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914400"/>
            <a:ext cx="2103120" cy="5029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2735" y="1600200"/>
            <a:ext cx="2103120" cy="50292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39935" y="2286000"/>
            <a:ext cx="2103120" cy="502920"/>
          </a:xfrm>
          <a:prstGeom prst="rect">
            <a:avLst/>
          </a:prstGeom>
          <a:solidFill>
            <a:srgbClr val="E8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300" b="1">
                <a:solidFill>
                  <a:srgbClr val="4CC9A8"/>
                </a:solidFill>
                <a:latin typeface="Calibri"/>
              </a:rPr>
              <a:t>KOTLIN MULTIPLATFORM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2F4F8"/>
                </a:solidFill>
                <a:latin typeface="Calibri"/>
              </a:rPr>
              <a:t>CleanArch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A3ADC2"/>
                </a:solidFill>
                <a:latin typeface="Calibri"/>
              </a:rPr>
              <a:t>Clean Architecture + MVI para Android e iOS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A3ADC2"/>
                </a:solidFill>
                <a:latin typeface="Calibri"/>
              </a:rPr>
              <a:t>con Compose Multiplatform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343400"/>
            <a:ext cx="3291840" cy="254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B8DEF"/>
                </a:solidFill>
                <a:latin typeface="Calibri"/>
              </a:rPr>
              <a:t>Presentación técnica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080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Sngular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01 · VISIÓN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¿Qué es CleanArch?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035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3ADC2"/>
                </a:solidFill>
                <a:latin typeface="Calibri"/>
              </a:rPr>
              <a:t>Proyecto Kotlin Multiplatform (KMP) que demuestra una arquitectura escalable y mantenible para desarrollo móvil cross-platform: una única base de código comparte la lógica de negocio entre Android e iOS, con una UI unificada construida en Compose Multiplatform.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6035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›  Multiplataforma real</a:t>
            </a:r>
            <a:r>
              <a:rPr sz="1450" b="0">
                <a:solidFill>
                  <a:srgbClr val="F2F4F8"/>
                </a:solidFill>
                <a:latin typeface="Calibri"/>
              </a:rPr>
              <a:t>  un solo código de dominio y datos para Android e iOS.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›  Clean Architecture estricta</a:t>
            </a:r>
            <a:r>
              <a:rPr sz="1450" b="0">
                <a:solidFill>
                  <a:srgbClr val="F2F4F8"/>
                </a:solidFill>
                <a:latin typeface="Calibri"/>
              </a:rPr>
              <a:t>  capas separadas y límites de dependencia forzados en build.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›  MVI en toda la UI</a:t>
            </a:r>
            <a:r>
              <a:rPr sz="1450" b="0">
                <a:solidFill>
                  <a:srgbClr val="F2F4F8"/>
                </a:solidFill>
                <a:latin typeface="Calibri"/>
              </a:rPr>
              <a:t>  State / Intent / Effect predecibles en cada pantalla.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›  Calidad medible</a:t>
            </a:r>
            <a:r>
              <a:rPr sz="1450" b="0">
                <a:solidFill>
                  <a:srgbClr val="F2F4F8"/>
                </a:solidFill>
                <a:latin typeface="Calibri"/>
              </a:rPr>
              <a:t>  análisis estático, cobertura de tests y CI/CD ya integrados.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600200"/>
            <a:ext cx="4754880" cy="44348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87451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C9A8"/>
                </a:solidFill>
                <a:latin typeface="Calibri"/>
              </a:rPr>
              <a:t>En cifras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4231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4F8"/>
                </a:solidFill>
                <a:latin typeface="Calibri"/>
              </a:rPr>
              <a:t>~22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59" y="25328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3ADC2"/>
                </a:solidFill>
                <a:latin typeface="Calibri"/>
              </a:rPr>
              <a:t>módulos Gradle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3375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4F8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59" y="34472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3ADC2"/>
                </a:solidFill>
                <a:latin typeface="Calibri"/>
              </a:rPr>
              <a:t>pantallas /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42519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4F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43616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3ADC2"/>
                </a:solidFill>
                <a:latin typeface="Calibri"/>
              </a:rPr>
              <a:t>plataformas objetivo (Android · 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51663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4F8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52760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3ADC2"/>
                </a:solidFill>
                <a:latin typeface="Calibri"/>
              </a:rPr>
              <a:t>MVI en la capa de presentación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02 /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02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Clean Architecture por capas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09728" cy="841248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" y="1600200"/>
            <a:ext cx="10789920" cy="841248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4F8"/>
                </a:solidFill>
                <a:latin typeface="Calibri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CC9A8"/>
                </a:solidFill>
                <a:latin typeface="Calibri"/>
              </a:rPr>
              <a:t>Reglas de negocio puras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80136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Kotlin puro, sin dependencias de plataforma. Models, Repository interfaces, Use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23744"/>
            <a:ext cx="109728" cy="84124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523744"/>
            <a:ext cx="10789920" cy="841248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968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4F8"/>
                </a:solidFill>
                <a:latin typeface="Calibri"/>
              </a:rPr>
              <a:t>data:*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8094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8DEF"/>
                </a:solidFill>
                <a:latin typeface="Calibri"/>
              </a:rPr>
              <a:t>Infraestructura por dominio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7249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auth · orders · analytics — implementan los repos, hablan con red/almacenamiento.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47288"/>
            <a:ext cx="109728" cy="841248"/>
          </a:xfrm>
          <a:prstGeom prst="rect">
            <a:avLst/>
          </a:prstGeom>
          <a:solidFill>
            <a:srgbClr val="E8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3447288"/>
            <a:ext cx="10789920" cy="841248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4F8"/>
                </a:solidFill>
                <a:latin typeface="Calibri"/>
              </a:rPr>
              <a:t>core:*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04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8A84A"/>
                </a:solidFill>
                <a:latin typeface="Calibri"/>
              </a:rPr>
              <a:t>Infraestructura transversal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64845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network · storage · database · analytics · mvi — building blocks sin lógica de negocio.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70832"/>
            <a:ext cx="109728" cy="841248"/>
          </a:xfrm>
          <a:prstGeom prst="rect">
            <a:avLst/>
          </a:prstGeom>
          <a:solidFill>
            <a:srgbClr val="C97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4370832"/>
            <a:ext cx="10789920" cy="841248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4398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4F8"/>
                </a:solidFill>
                <a:latin typeface="Calibri"/>
              </a:rPr>
              <a:t>presentation / feature:*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280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7CE8"/>
                </a:solidFill>
                <a:latin typeface="Calibri"/>
              </a:rPr>
              <a:t>UI y estado (MVI)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572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Una pantalla = un módulo feature, con su propio ViewModel y módulo Koin.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94376"/>
            <a:ext cx="109728" cy="841248"/>
          </a:xfrm>
          <a:prstGeom prst="rect">
            <a:avLst/>
          </a:prstGeom>
          <a:solidFill>
            <a:srgbClr val="E8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" y="5294376"/>
            <a:ext cx="10789920" cy="841248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367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4F8"/>
                </a:solidFill>
                <a:latin typeface="Calibri"/>
              </a:rPr>
              <a:t>composeApp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75157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86A8A"/>
                </a:solidFill>
                <a:latin typeface="Calibri"/>
              </a:rPr>
              <a:t>Punto de entrada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4955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Único módulo que conoce todo el grafo: ensambla Koin y aloja Activity / ViewController.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03 /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02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Mapa de módulos Gradle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148840" cy="45720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61F"/>
                </a:solidFill>
                <a:latin typeface="Calibri"/>
              </a:rPr>
              <a:t>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1 módulo compartido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00200"/>
            <a:ext cx="2148840" cy="457200"/>
          </a:xfrm>
          <a:prstGeom prst="rect">
            <a:avLst/>
          </a:prstGeom>
          <a:solidFill>
            <a:srgbClr val="E8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6916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61F"/>
                </a:solidFill>
                <a:latin typeface="Calibri"/>
              </a:rPr>
              <a:t>core:*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19456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615184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035808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456432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877056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mvi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600200"/>
            <a:ext cx="2148840" cy="4572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6916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61F"/>
                </a:solidFill>
                <a:latin typeface="Calibri"/>
              </a:rPr>
              <a:t>data:*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19456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615184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035808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600200"/>
            <a:ext cx="2148840" cy="457200"/>
          </a:xfrm>
          <a:prstGeom prst="rect">
            <a:avLst/>
          </a:prstGeom>
          <a:solidFill>
            <a:srgbClr val="C97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6916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61F"/>
                </a:solidFill>
                <a:latin typeface="Calibri"/>
              </a:rPr>
              <a:t>feature:*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19456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splash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615184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login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035808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register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456432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forgot_password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877056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home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29768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settings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718304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profile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138928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edit_profile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5559552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orders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5980176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none"/>
          <a:lstStyle/>
          <a:p>
            <a:pPr algn="ctr"/>
            <a:r>
              <a:rPr sz="1150" b="1">
                <a:solidFill>
                  <a:srgbClr val="F2F4F8"/>
                </a:solidFill>
                <a:latin typeface="Calibri"/>
              </a:rPr>
              <a:t>privacy_policy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1600200"/>
            <a:ext cx="2057400" cy="457200"/>
          </a:xfrm>
          <a:prstGeom prst="rect">
            <a:avLst/>
          </a:prstGeom>
          <a:solidFill>
            <a:srgbClr val="E8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169164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161F"/>
                </a:solidFill>
                <a:latin typeface="Calibri"/>
              </a:rPr>
              <a:t>composeApp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240280"/>
            <a:ext cx="2057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3ADC2"/>
                </a:solidFill>
                <a:latin typeface="Calibri"/>
              </a:rPr>
              <a:t>Ensambla todos los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3ADC2"/>
                </a:solidFill>
                <a:latin typeface="Calibri"/>
              </a:rPr>
              <a:t>módulos Koin y aloja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3ADC2"/>
                </a:solidFill>
                <a:latin typeface="Calibri"/>
              </a:rPr>
              <a:t>los entry points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A3ADC2"/>
                </a:solidFill>
                <a:latin typeface="Calibri"/>
              </a:rPr>
              <a:t>Android / iOS.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3383280"/>
            <a:ext cx="2057400" cy="457200"/>
          </a:xfrm>
          <a:prstGeom prst="rect">
            <a:avLst/>
          </a:prstGeom>
          <a:solidFill>
            <a:srgbClr val="6A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347472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161F"/>
                </a:solidFill>
                <a:latin typeface="Calibri"/>
              </a:rPr>
              <a:t>commonResources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623560"/>
            <a:ext cx="11201400" cy="68580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77900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CC9A8"/>
                </a:solidFill>
                <a:latin typeface="Calibri"/>
              </a:rPr>
              <a:t>Grafo de dependencias fijo por convención — y forzado en build por verifyModuleBoundaries (specs/013).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04 /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03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361188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Lenguaje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Kotlin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459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45920"/>
            <a:ext cx="3611880" cy="3810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Compose Multiplatform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6459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361188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Inyección de dependencias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762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Koin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17520"/>
            <a:ext cx="3611880" cy="3810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Concurrencia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Coroutines &amp;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0175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017520"/>
            <a:ext cx="361188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2004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Navegación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5478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Navigation3 / Compose Navigation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0175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017520"/>
            <a:ext cx="3611880" cy="3810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Gestión de estado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5478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MVI (State · Intent · Effect)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891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389120"/>
            <a:ext cx="361188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194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Ktor Client (OkHttp / Darwin)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43891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4389120"/>
            <a:ext cx="3611880" cy="3810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5720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Almacenamiento seguro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9194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KVault (Keystore / Keychain)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4389120"/>
            <a:ext cx="3611880" cy="12344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01000" y="4389120"/>
            <a:ext cx="361188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5720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3ADC2"/>
                </a:solidFill>
                <a:latin typeface="Calibri"/>
              </a:rPr>
              <a:t>Caché offline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9194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4F8"/>
                </a:solidFill>
                <a:latin typeface="Calibri"/>
              </a:rPr>
              <a:t>SQLDelight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05 /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04 ·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Funcionalidades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611880" cy="19202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" cy="19202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2F4F8"/>
                </a:solidFill>
                <a:latin typeface="Calibri"/>
              </a:rPr>
              <a:t>Autenticación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317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Login, registro y recuperación de contraseña con validación.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45920"/>
            <a:ext cx="3611880" cy="19202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45920"/>
            <a:ext cx="54864" cy="192024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470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2F4F8"/>
                </a:solidFill>
                <a:latin typeface="Calibri"/>
              </a:rPr>
              <a:t>Splash &amp;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317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Carga inicial con navegación, dashboard con tarjetas por categoría.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645920"/>
            <a:ext cx="3611880" cy="19202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54864" cy="1920240"/>
          </a:xfrm>
          <a:prstGeom prst="rect">
            <a:avLst/>
          </a:prstGeom>
          <a:solidFill>
            <a:srgbClr val="E8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8470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2F4F8"/>
                </a:solidFill>
                <a:latin typeface="Calibri"/>
              </a:rPr>
              <a:t>Perfil &amp; Ajustes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3317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Perfil de usuario, preferencias (notificaciones, modo oscuro), seguridad.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3611880" cy="19202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54864" cy="19202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9044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2F4F8"/>
                </a:solidFill>
                <a:latin typeface="Calibri"/>
              </a:rPr>
              <a:t>Soporte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3891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Pedidos y perfil cacheados con SQLDelight; disponibles sin conexión.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703320"/>
            <a:ext cx="3611880" cy="19202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54864" cy="192024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9044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2F4F8"/>
                </a:solidFill>
                <a:latin typeface="Calibri"/>
              </a:rPr>
              <a:t>Crash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3891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Reporte opt-in de errores y eventos clave vía Sentry (Android).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703320"/>
            <a:ext cx="3611880" cy="192024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703320"/>
            <a:ext cx="54864" cy="1920240"/>
          </a:xfrm>
          <a:prstGeom prst="rect">
            <a:avLst/>
          </a:prstGeom>
          <a:solidFill>
            <a:srgbClr val="E8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390448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2F4F8"/>
                </a:solidFill>
                <a:latin typeface="Calibri"/>
              </a:rPr>
              <a:t>Theming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43891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A3ADC2"/>
                </a:solidFill>
                <a:latin typeface="Calibri"/>
              </a:rPr>
              <a:t>Sistema de diseño Material 3 integrado en toda la app.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06 /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05 ·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Estrategia offline-first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A3ADC2"/>
                </a:solidFill>
                <a:latin typeface="Calibri"/>
              </a:rPr>
              <a:t>Los módulos data:orders y data:auth (perfil) sirven primero desde una caché local SQLDelight y refrescan desde red en segundo plano, sin bloquear ni degradar la experiencia sin conectividad.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4CC9A8"/>
                </a:solidFill>
                <a:latin typeface="Calibri"/>
              </a:rPr>
              <a:t>›  1. La UI pide datos al repositorio (dominio)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4CC9A8"/>
                </a:solidFill>
                <a:latin typeface="Calibri"/>
              </a:rPr>
              <a:t>›  2. El repositorio lee primero la caché local (SQLDelight)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4CC9A8"/>
                </a:solidFill>
                <a:latin typeface="Calibri"/>
              </a:rPr>
              <a:t>›  3. La pantalla se pinta al instante con esos datos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4CC9A8"/>
                </a:solidFill>
                <a:latin typeface="Calibri"/>
              </a:rPr>
              <a:t>›  4. En paralelo, se refresca desde la API (Ktor)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4CC9A8"/>
                </a:solidFill>
                <a:latin typeface="Calibri"/>
              </a:rPr>
              <a:t>›  5. La caché y la UI se actualizan de forma silenciosa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691640"/>
            <a:ext cx="4754880" cy="91440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9842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2F4F8"/>
                </a:solidFill>
                <a:latin typeface="Calibri"/>
              </a:rPr>
              <a:t>UI (feature:orders / feature:profile)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9308592" y="2606040"/>
            <a:ext cx="25400" cy="411480"/>
          </a:xfrm>
          <a:prstGeom prst="rect">
            <a:avLst/>
          </a:prstGeom>
          <a:solidFill>
            <a:srgbClr val="A3A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3017520"/>
            <a:ext cx="4754880" cy="91440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3101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2F4F8"/>
                </a:solidFill>
                <a:latin typeface="Calibri"/>
              </a:rPr>
              <a:t>domain (repositorio, interfaz)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8592" y="3931920"/>
            <a:ext cx="25400" cy="411480"/>
          </a:xfrm>
          <a:prstGeom prst="rect">
            <a:avLst/>
          </a:prstGeom>
          <a:solidFill>
            <a:srgbClr val="A3A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4343400"/>
            <a:ext cx="2286000" cy="914400"/>
          </a:xfrm>
          <a:prstGeom prst="rect">
            <a:avLst/>
          </a:prstGeom>
          <a:solidFill>
            <a:srgbClr val="22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480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4CC9A8"/>
                </a:solidFill>
                <a:latin typeface="Calibri"/>
              </a:rPr>
              <a:t>core:database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800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3ADC2"/>
                </a:solidFill>
                <a:latin typeface="Calibri"/>
              </a:rPr>
              <a:t>SQLDelight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3ADC2"/>
                </a:solidFill>
                <a:latin typeface="Calibri"/>
              </a:rPr>
              <a:t>(caché local)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4343400"/>
            <a:ext cx="2286000" cy="914400"/>
          </a:xfrm>
          <a:prstGeom prst="rect">
            <a:avLst/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4480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8DEF"/>
                </a:solidFill>
                <a:latin typeface="Calibri"/>
              </a:rPr>
              <a:t>core:network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800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3ADC2"/>
                </a:solidFill>
                <a:latin typeface="Calibri"/>
              </a:rPr>
              <a:t>Ktor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A3ADC2"/>
                </a:solidFill>
                <a:latin typeface="Calibri"/>
              </a:rPr>
              <a:t>(refresco en 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07 /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06 ·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Herramientas de calidad de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566160" cy="402336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45720" cy="402336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9222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8"/>
                </a:solidFill>
                <a:latin typeface="Calibri"/>
              </a:rPr>
              <a:t>Análisis estático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12848"/>
            <a:ext cx="3200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5B8DEF"/>
                </a:solidFill>
                <a:latin typeface="Calibri"/>
              </a:rPr>
              <a:t>›  detekt</a:t>
            </a:r>
            <a:r>
              <a:rPr sz="1150" b="0">
                <a:solidFill>
                  <a:srgbClr val="A3ADC2"/>
                </a:solidFill>
                <a:latin typeface="Calibri"/>
              </a:rPr>
              <a:t>  una única configuración compartida para todos los módulos.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5B8DEF"/>
                </a:solidFill>
                <a:latin typeface="Calibri"/>
              </a:rPr>
              <a:t>›  Baseline por módulo</a:t>
            </a:r>
            <a:r>
              <a:rPr sz="1150" b="0">
                <a:solidFill>
                  <a:srgbClr val="A3ADC2"/>
                </a:solidFill>
                <a:latin typeface="Calibri"/>
              </a:rPr>
              <a:t>  el legado no bloquea, pero no se puede añadir deuda nueva.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5B8DEF"/>
                </a:solidFill>
                <a:latin typeface="Calibri"/>
              </a:rPr>
              <a:t>›  Gate en CI</a:t>
            </a:r>
            <a:r>
              <a:rPr sz="1150" b="0">
                <a:solidFill>
                  <a:srgbClr val="A3ADC2"/>
                </a:solidFill>
                <a:latin typeface="Calibri"/>
              </a:rPr>
              <a:t>  el build falla ante cualquier hallazgo nuevo.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566160" cy="402336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45720" cy="4023360"/>
          </a:xfrm>
          <a:prstGeom prst="rect">
            <a:avLst/>
          </a:prstGeom>
          <a:solidFill>
            <a:srgbClr val="E8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79222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8"/>
                </a:solidFill>
                <a:latin typeface="Calibri"/>
              </a:rPr>
              <a:t>Límites entre módulos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212848"/>
            <a:ext cx="3200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E8A84A"/>
                </a:solidFill>
                <a:latin typeface="Calibri"/>
              </a:rPr>
              <a:t>›  verifyModuleBoundaries</a:t>
            </a:r>
            <a:r>
              <a:rPr sz="1150" b="0">
                <a:solidFill>
                  <a:srgbClr val="A3ADC2"/>
                </a:solidFill>
                <a:latin typeface="Calibri"/>
              </a:rPr>
              <a:t>  tarea de build que valida el grafo de dependencias.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E8A84A"/>
                </a:solidFill>
                <a:latin typeface="Calibri"/>
              </a:rPr>
              <a:t>›  Fuente única de verdad</a:t>
            </a:r>
            <a:r>
              <a:rPr sz="1150" b="0">
                <a:solidFill>
                  <a:srgbClr val="A3ADC2"/>
                </a:solidFill>
                <a:latin typeface="Calibri"/>
              </a:rPr>
              <a:t>  reglas versionadas en ModuleBoundaries.kt.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E8A84A"/>
                </a:solidFill>
                <a:latin typeface="Calibri"/>
              </a:rPr>
              <a:t>›  Falla con detalle</a:t>
            </a:r>
            <a:r>
              <a:rPr sz="1150" b="0">
                <a:solidFill>
                  <a:srgbClr val="A3ADC2"/>
                </a:solidFill>
                <a:latin typeface="Calibri"/>
              </a:rPr>
              <a:t>  señala módulo origen y dependencia prohibida.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3566160" cy="402336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645920"/>
            <a:ext cx="45720" cy="402336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79222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8"/>
                </a:solidFill>
                <a:latin typeface="Calibri"/>
              </a:rPr>
              <a:t>Cobertura de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212848"/>
            <a:ext cx="3200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4CC9A8"/>
                </a:solidFill>
                <a:latin typeface="Calibri"/>
              </a:rPr>
              <a:t>›  Kover</a:t>
            </a:r>
            <a:r>
              <a:rPr sz="1150" b="0">
                <a:solidFill>
                  <a:srgbClr val="A3ADC2"/>
                </a:solidFill>
                <a:latin typeface="Calibri"/>
              </a:rPr>
              <a:t>  reporte agregado HTML + XML de todos los módulos con tests.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4CC9A8"/>
                </a:solidFill>
                <a:latin typeface="Calibri"/>
              </a:rPr>
              <a:t>›  Un solo comando</a:t>
            </a:r>
            <a:r>
              <a:rPr sz="1150" b="0">
                <a:solidFill>
                  <a:srgbClr val="A3ADC2"/>
                </a:solidFill>
                <a:latin typeface="Calibri"/>
              </a:rPr>
              <a:t>  ./gradlew koverHtmlReport.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4CC9A8"/>
                </a:solidFill>
                <a:latin typeface="Calibri"/>
              </a:rPr>
              <a:t>›  Publicado en CI</a:t>
            </a:r>
            <a:r>
              <a:rPr sz="1150" b="0">
                <a:solidFill>
                  <a:srgbClr val="A3ADC2"/>
                </a:solidFill>
                <a:latin typeface="Calibri"/>
              </a:rPr>
              <a:t>  artefacto descargable en cada ejecución.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08 /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Calibri"/>
              </a:rPr>
              <a:t>07 ·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Integración continua y releases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3ADC2"/>
                </a:solidFill>
                <a:latin typeface="Calibri"/>
              </a:rPr>
              <a:t>Cada push/PR ejecuta el workflow de GitHub Actions (.github/workflows/ci.yml):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783080" cy="64008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F4F8"/>
                </a:solidFill>
                <a:latin typeface="Calibri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67712"/>
            <a:ext cx="320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8DEF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148840"/>
            <a:ext cx="1783080" cy="64008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23317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F4F8"/>
                </a:solidFill>
                <a:latin typeface="Calibri"/>
              </a:rPr>
              <a:t>Lint 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67712"/>
            <a:ext cx="320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8DE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148840"/>
            <a:ext cx="1783080" cy="64008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3317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F4F8"/>
                </a:solidFill>
                <a:latin typeface="Calibri"/>
              </a:rPr>
              <a:t>Unit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67712"/>
            <a:ext cx="320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8DEF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2148840"/>
            <a:ext cx="1783080" cy="64008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3317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F4F8"/>
                </a:solidFill>
                <a:latin typeface="Calibri"/>
              </a:rPr>
              <a:t>detekt 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267712"/>
            <a:ext cx="320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8DEF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2148840"/>
            <a:ext cx="1783080" cy="64008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3317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F4F8"/>
                </a:solidFill>
                <a:latin typeface="Calibri"/>
              </a:rPr>
              <a:t>Cobertura (Kover)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2267712"/>
            <a:ext cx="320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B8DEF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2148840"/>
            <a:ext cx="1783080" cy="64008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23317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2F4F8"/>
                </a:solidFill>
                <a:latin typeface="Calibri"/>
              </a:rPr>
              <a:t>Compilación iOS (KMP)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00400"/>
            <a:ext cx="11201400" cy="19050"/>
          </a:xfrm>
          <a:prstGeom prst="rect">
            <a:avLst/>
          </a:prstGeom>
          <a:solidFill>
            <a:srgbClr val="A3A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20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3ADC2"/>
                </a:solidFill>
                <a:latin typeface="Calibri"/>
              </a:rPr>
              <a:t>Al pushear una etiqueta vMAJOR.MINOR.PATCH, y sólo si ese commit ya pasó todo lo anterior: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14800"/>
            <a:ext cx="5394960" cy="196596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14800"/>
            <a:ext cx="45720" cy="196596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261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8"/>
                </a:solidFill>
                <a:latin typeface="Calibri"/>
              </a:rPr>
              <a:t>Release Android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681728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4CC9A8"/>
                </a:solidFill>
                <a:latin typeface="Calibri"/>
              </a:rPr>
              <a:t>›  AAB firmado</a:t>
            </a:r>
            <a:r>
              <a:rPr sz="1150" b="0">
                <a:solidFill>
                  <a:srgbClr val="A3ADC2"/>
                </a:solidFill>
                <a:latin typeface="Calibri"/>
              </a:rPr>
              <a:t>  versión derivada automáticamente de la etiqueta.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4CC9A8"/>
                </a:solidFill>
                <a:latin typeface="Calibri"/>
              </a:rPr>
              <a:t>›  Secrets requeridos</a:t>
            </a:r>
            <a:r>
              <a:rPr sz="1150" b="0">
                <a:solidFill>
                  <a:srgbClr val="A3ADC2"/>
                </a:solidFill>
                <a:latin typeface="Calibri"/>
              </a:rPr>
              <a:t>  keystore, alias y contraseñas vía GitHub Secrets.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4CC9A8"/>
                </a:solidFill>
                <a:latin typeface="Calibri"/>
              </a:rPr>
              <a:t>›  Publicado como asset</a:t>
            </a:r>
            <a:r>
              <a:rPr sz="1150" b="0">
                <a:solidFill>
                  <a:srgbClr val="A3ADC2"/>
                </a:solidFill>
                <a:latin typeface="Calibri"/>
              </a:rPr>
              <a:t>  en el GitHub Release correspondiente.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114800"/>
            <a:ext cx="5394960" cy="1965960"/>
          </a:xfrm>
          <a:prstGeom prst="rect">
            <a:avLst/>
          </a:prstGeom>
          <a:solidFill>
            <a:srgbClr val="1B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114800"/>
            <a:ext cx="45720" cy="196596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261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8"/>
                </a:solidFill>
                <a:latin typeface="Calibri"/>
              </a:rPr>
              <a:t>Release 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681728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5B8DEF"/>
                </a:solidFill>
                <a:latin typeface="Calibri"/>
              </a:rPr>
              <a:t>›  Archivo listo para TestFlight</a:t>
            </a:r>
            <a:r>
              <a:rPr sz="1150" b="0">
                <a:solidFill>
                  <a:srgbClr val="A3ADC2"/>
                </a:solidFill>
                <a:latin typeface="Calibri"/>
              </a:rPr>
              <a:t>  firmado con certificado y provisioning profile.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5B8DEF"/>
                </a:solidFill>
                <a:latin typeface="Calibri"/>
              </a:rPr>
              <a:t>›  Exportado como .ipa</a:t>
            </a:r>
            <a:r>
              <a:rPr sz="1150" b="0">
                <a:solidFill>
                  <a:srgbClr val="A3ADC2"/>
                </a:solidFill>
                <a:latin typeface="Calibri"/>
              </a:rPr>
              <a:t>  vía Secrets: certificado, contraseña, team ID.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5B8DEF"/>
                </a:solidFill>
                <a:latin typeface="Calibri"/>
              </a:rPr>
              <a:t>›  Publicado como asset</a:t>
            </a:r>
            <a:r>
              <a:rPr sz="1150" b="0">
                <a:solidFill>
                  <a:srgbClr val="A3ADC2"/>
                </a:solidFill>
                <a:latin typeface="Calibri"/>
              </a:rPr>
              <a:t>  en el mismo GitHub Release.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CleanArch — Kotlin Multiplatform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3ADC2"/>
                </a:solidFill>
                <a:latin typeface="Calibri"/>
              </a:rPr>
              <a:t>09 / 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279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A8"/>
                </a:solidFill>
                <a:latin typeface="Calibri"/>
              </a:rPr>
              <a:t>08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2F4F8"/>
                </a:solidFill>
                <a:latin typeface="Calibri"/>
              </a:rPr>
              <a:t>En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6888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4CC9A8"/>
                </a:solidFill>
                <a:latin typeface="Calibri"/>
              </a:rPr>
              <a:t>›  Arquitectura sólida y escalable</a:t>
            </a:r>
            <a:r>
              <a:rPr sz="1700" b="0">
                <a:solidFill>
                  <a:srgbClr val="F2F4F8"/>
                </a:solidFill>
                <a:latin typeface="Calibri"/>
              </a:rPr>
              <a:t>  Clean Architecture + MVI, con límites de módulo forzados en build.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4CC9A8"/>
                </a:solidFill>
                <a:latin typeface="Calibri"/>
              </a:rPr>
              <a:t>›  Multiplataforma de verdad</a:t>
            </a:r>
            <a:r>
              <a:rPr sz="1700" b="0">
                <a:solidFill>
                  <a:srgbClr val="F2F4F8"/>
                </a:solidFill>
                <a:latin typeface="Calibri"/>
              </a:rPr>
              <a:t>  un solo dominio y una sola capa de datos para Android e iOS.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4CC9A8"/>
                </a:solidFill>
                <a:latin typeface="Calibri"/>
              </a:rPr>
              <a:t>›  Calidad como parte del flujo</a:t>
            </a:r>
            <a:r>
              <a:rPr sz="1700" b="0">
                <a:solidFill>
                  <a:srgbClr val="F2F4F8"/>
                </a:solidFill>
                <a:latin typeface="Calibri"/>
              </a:rPr>
              <a:t>  detekt, cobertura y CI/CD desde el primer commit, no añadidos después.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4CC9A8"/>
                </a:solidFill>
                <a:latin typeface="Calibri"/>
              </a:rPr>
              <a:t>›  Listo para crecer</a:t>
            </a:r>
            <a:r>
              <a:rPr sz="1700" b="0">
                <a:solidFill>
                  <a:srgbClr val="F2F4F8"/>
                </a:solidFill>
                <a:latin typeface="Calibri"/>
              </a:rPr>
              <a:t>  cada nueva feature es un módulo nuevo, sin tocar el resto del grafo.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943600"/>
            <a:ext cx="2926080" cy="25400"/>
          </a:xfrm>
          <a:prstGeom prst="rect">
            <a:avLst/>
          </a:prstGeom>
          <a:solidFill>
            <a:srgbClr val="4C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3ADC2"/>
                </a:solidFill>
                <a:latin typeface="Calibri"/>
              </a:rPr>
              <a:t>Gracias — CleanArch, proyecto Kotlin Multiplatform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126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A3ADC2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